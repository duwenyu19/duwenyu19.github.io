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463040"/>
            <a:ext cx="5852160" cy="5852160"/>
          </a:xfrm>
          <a:prstGeom prst="ellipse">
            <a:avLst/>
          </a:prstGeom>
          <a:solidFill>
            <a:srgbClr val="1B2436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365760"/>
            <a:ext cx="3657600" cy="3657600"/>
          </a:xfrm>
          <a:prstGeom prst="ellipse">
            <a:avLst/>
          </a:prstGeom>
          <a:solidFill>
            <a:srgbClr val="2330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ARTIFICIAL INTELLIGENCE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D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Timeline: 1950 –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4069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Turing Test to Generative AI — key milestones, AI winters, and the breakthroughs of deep learning and cloud computing.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Wenyu Du  ·  Workshop One Discussion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Decades at a Glance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advanced in waves — bursts of optimism, two long winters, then an explosion driven by data, GPUs, and the cloud.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703320"/>
            <a:ext cx="10561320" cy="0"/>
          </a:xfrm>
          <a:prstGeom prst="line">
            <a:avLst/>
          </a:prstGeom>
          <a:noFill/>
          <a:ln w="38100">
            <a:solidFill>
              <a:srgbClr val="2C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3575304"/>
            <a:ext cx="256032" cy="256032"/>
          </a:xfrm>
          <a:prstGeom prst="ellipse">
            <a:avLst/>
          </a:prstGeom>
          <a:solidFill>
            <a:srgbClr val="2AD1C9"/>
          </a:solidFill>
          <a:ln w="25400">
            <a:solidFill>
              <a:srgbClr val="0F1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9044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D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of AI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5448" y="245059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Test; Dartmouth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coins “AI” (1956)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7564" y="3575304"/>
            <a:ext cx="256032" cy="256032"/>
          </a:xfrm>
          <a:prstGeom prst="ellipse">
            <a:avLst/>
          </a:prstGeom>
          <a:solidFill>
            <a:srgbClr val="A9C4E8"/>
          </a:solidFill>
          <a:ln w="25400">
            <a:solidFill>
              <a:srgbClr val="0F1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5500" y="3136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66900" y="4389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 Winter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839468" y="491947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cuts after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overpromised results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1584" y="3575304"/>
            <a:ext cx="256032" cy="256032"/>
          </a:xfrm>
          <a:prstGeom prst="ellipse">
            <a:avLst/>
          </a:prstGeom>
          <a:solidFill>
            <a:srgbClr val="F2B33D"/>
          </a:solidFill>
          <a:ln w="25400">
            <a:solidFill>
              <a:srgbClr val="0F1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9520" y="39044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50920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23488" y="245059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boom;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XCON, Fifth Generation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75604" y="3575304"/>
            <a:ext cx="256032" cy="256032"/>
          </a:xfrm>
          <a:prstGeom prst="ellipse">
            <a:avLst/>
          </a:prstGeom>
          <a:solidFill>
            <a:srgbClr val="A9C4E8"/>
          </a:solidFill>
          <a:ln w="25400">
            <a:solidFill>
              <a:srgbClr val="0F1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3540" y="3136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34940" y="4389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AI Winter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07508" y="491947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Lisp machine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collapses; budgets slashed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59624" y="3575304"/>
            <a:ext cx="256032" cy="256032"/>
          </a:xfrm>
          <a:prstGeom prst="ellipse">
            <a:avLst/>
          </a:prstGeom>
          <a:solidFill>
            <a:srgbClr val="2AD1C9"/>
          </a:solidFill>
          <a:ln w="25400">
            <a:solidFill>
              <a:srgbClr val="0F1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47560" y="39044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D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18960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Renaissance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91528" y="245059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beats Kasparov;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cloud era begins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43644" y="3575304"/>
            <a:ext cx="256032" cy="256032"/>
          </a:xfrm>
          <a:prstGeom prst="ellipse">
            <a:avLst/>
          </a:prstGeom>
          <a:solidFill>
            <a:srgbClr val="F2B33D"/>
          </a:solidFill>
          <a:ln w="25400">
            <a:solidFill>
              <a:srgbClr val="0F1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31580" y="3136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02980" y="4389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575548" y="491947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+ Nvidia GPUs;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AlphaGo, Transformers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027664" y="3575304"/>
            <a:ext cx="256032" cy="256032"/>
          </a:xfrm>
          <a:prstGeom prst="ellipse">
            <a:avLst/>
          </a:prstGeom>
          <a:solidFill>
            <a:srgbClr val="E96BAF"/>
          </a:solidFill>
          <a:ln w="25400">
            <a:solidFill>
              <a:srgbClr val="0F1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0" y="39044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6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287000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259568" y="245059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reaches 100M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users; GPT-4, Claude, Gemini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Birth of AI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D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 – 1969  ·  LOGIC, OPTIMISM, AND THE FIRST PROGRAMS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43000" y="1700784"/>
            <a:ext cx="0" cy="3950208"/>
          </a:xfrm>
          <a:prstGeom prst="line">
            <a:avLst/>
          </a:prstGeom>
          <a:noFill/>
          <a:ln w="25400">
            <a:solidFill>
              <a:srgbClr val="2C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2AD1C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1490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asks “Can machines think?”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5960" y="1810512"/>
            <a:ext cx="9646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publishes “Computing Machinery and Intelligence,” proposing the Imitation Game (Turing Test) as a practical way to judge machine intelligence.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496312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2AD1C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963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65960" y="247802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Dartmouth Workshop — “Artificial Intelligence” is named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2798064"/>
            <a:ext cx="9646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McCarthy, Marvin Minsky, Claude Shannon, and others gather at Dartmouth College; McCarthy coins the term “artificial intelligence,” founding the field.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483864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2AD1C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4838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346557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Rosenblatt's Perceptron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65960" y="3785616"/>
            <a:ext cx="9646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Rosenblatt builds the perceptron, an early trainable neural network — the conceptual ancestor of today's deep learning systems.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471416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2AD1C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4714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445312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ELIZA, the first chatbot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65960" y="4773168"/>
            <a:ext cx="9646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Weizenbaum's ELIZA imitates a psychotherapist using pattern matching, showing how easily people attribute understanding to machines.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545896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2AD1C9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458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65960" y="544068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Shakey the Robot &amp; the limits of perceptrons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965960" y="5760720"/>
            <a:ext cx="9646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SRI's Shakey combines perception, planning, and movement; the same year, Minsky and Papert's book Perceptrons exposes single-layer networks' limits, cooling enthusiasm.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AI Winters and the Expert-System Boom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 – 1995  ·  WHY PROGRESS STALLED — TWICE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43000" y="1700784"/>
            <a:ext cx="0" cy="3497580"/>
          </a:xfrm>
          <a:prstGeom prst="line">
            <a:avLst/>
          </a:prstGeom>
          <a:noFill/>
          <a:ln w="25400">
            <a:solidFill>
              <a:srgbClr val="2C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A9C4E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1490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Lighthill Report triggers the first freeze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5960" y="1810512"/>
            <a:ext cx="9646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UK government review concludes AI failed to meet its grand promises; British and US (DARPA) funding is cut sharply.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7462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A9C4E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746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1974–80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65960" y="26563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 WINTER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2976372"/>
            <a:ext cx="9646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overpromising + weak computers + perceptron criticism. Impact: labs close, research funding nearly disappears, and “AI” becomes a discredited label.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84048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A9C4E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840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382219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revive the field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65960" y="4142232"/>
            <a:ext cx="9646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programs like DEC's XCON save companies millions; Japan launches the Fifth Generation Computer project, and corporate AI spending booms.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500634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A9C4E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50063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1987–93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498805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AI WINTER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65960" y="5308092"/>
            <a:ext cx="9646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the specialized Lisp-machine market collapses and expert systems prove brittle and costly to maintain. Impact: another decade of skepticism and slashed budgets.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 of the winters: hype that outruns hardware and data leads to collapse — a pattern researchers still reference today.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Rises — Data, Chips, and the Cloud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D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 – 2011  ·  THE QUIET COMEBACK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43000" y="1700784"/>
            <a:ext cx="0" cy="3497580"/>
          </a:xfrm>
          <a:prstGeom prst="line">
            <a:avLst/>
          </a:prstGeom>
          <a:noFill/>
          <a:ln w="25400">
            <a:solidFill>
              <a:srgbClr val="2C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2AD1C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1490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Deep Blue defeats Garry Kasparov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5960" y="1810512"/>
            <a:ext cx="9646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beats the world chess champion for the first time — a symbolic proof that raw computation plus search can master a “human” domain.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7462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2AD1C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746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65960" y="26563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is reborn — and the cloud arrives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2976372"/>
            <a:ext cx="9646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Geoffrey Hinton shows how to train deep neural networks effectively; the same year, Amazon launches AWS, making massive computing power rentable to anyone.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84048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2AD1C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840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382219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ImageNet: fuel for the revolution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65960" y="4142232"/>
            <a:ext cx="9646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Fei-Fei Li's team releases a dataset of millions of labeled images, giving neural networks the large-scale training data they had always lacked.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500634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2AD1C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50063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498805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wins Jeopardy!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65960" y="5308092"/>
            <a:ext cx="9646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defeats champions Ken Jennings and Brad Rutter at natural-language trivia, bringing AI back into public view and corporate strategy.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missing ingredients — big data, cheap parallel compute, and better algorithms — finally converge in this period.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Deep Learning Revolution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– 2019  ·  WHEN HARDWARE CAUGHT UP WITH THEORY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43000" y="1700784"/>
            <a:ext cx="0" cy="3950208"/>
          </a:xfrm>
          <a:prstGeom prst="line">
            <a:avLst/>
          </a:prstGeom>
          <a:noFill/>
          <a:ln w="25400">
            <a:solidFill>
              <a:srgbClr val="2C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2B33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1490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the breakthrough moment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5960" y="1810512"/>
            <a:ext cx="9646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Hinton's students Alex Krizhevsky and Ilya Sutskever crush the ImageNet contest using Nvidia GPUs, proving deep neural networks work at scale. The modern AI race begins.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496312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2B33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963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65960" y="247802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invented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2798064"/>
            <a:ext cx="9646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Goodfellow introduces generative adversarial networks — machines that can create realistic images, opening the door to generative 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483864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2B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4838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346557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defeats Lee Sedol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65960" y="3785616"/>
            <a:ext cx="9646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DeepMind's AlphaGo wins 4–1 at Go, a game once thought decades away from machine mastery, using deep reinforcement learning.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471416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2B33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4714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445312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“Attention Is All You Need” — the Transformer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65960" y="4773168"/>
            <a:ext cx="9646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researchers publish the Transformer architecture, the foundation of every modern large language model (the “T” in GPT).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545896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F2B33D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458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65960" y="544068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and GPT-1 launch the LLM era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965960" y="5760720"/>
            <a:ext cx="9646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BERT and OpenAI's first GPT show that pre-training giant models on internet text produces broad language ability.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Generative AI Era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6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TODAY  ·  AI GOES MAINSTREAM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43000" y="1700784"/>
            <a:ext cx="0" cy="3497580"/>
          </a:xfrm>
          <a:prstGeom prst="line">
            <a:avLst/>
          </a:prstGeom>
          <a:noFill/>
          <a:ln w="25400">
            <a:solidFill>
              <a:srgbClr val="2C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E96BA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14904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stuns researchers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5960" y="1810512"/>
            <a:ext cx="9646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175-billion-parameter model writes essays, code, and poetry from plain prompts, revealing the power of scale.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7462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E96BA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746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65960" y="26563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— the fastest-adopted app in history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2976372"/>
            <a:ext cx="9646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in November 2022, ChatGPT reaches an estimated 100 million users in about two months, making AI a household topic overnight.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84048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E96BA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840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382219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Claude, Gemini — the frontier race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65960" y="4142232"/>
            <a:ext cx="9646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(backed by Microsoft), Anthropic, and Google DeepMind compete on multimodal frontier models; Meta releases open-weight Llama models.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500634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E96BA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50063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498805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transforms industries — and Nvidia's chips power it all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65960" y="5308092"/>
            <a:ext cx="9646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spreads into medicine, finance, law, education, and software development; Nvidia's GPUs become the critical infrastructure, briefly making it the world's most valuable company.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leading players: OpenAI, Google DeepMind, Anthropic, Meta AI, Microsoft, and Nvidia — with AGI as the openly stated goal for several of them.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128016" cy="128016"/>
          </a:xfrm>
          <a:prstGeom prst="ellipse">
            <a:avLst/>
          </a:prstGeom>
          <a:solidFill>
            <a:srgbClr val="2AD1C9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25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Putchuon – “Put You On.” (2024, May 30). The entire history of artificial intelligence (Last 100 years) [Video]. YouTube.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58568"/>
            <a:ext cx="128016" cy="128016"/>
          </a:xfrm>
          <a:prstGeom prst="ellipse">
            <a:avLst/>
          </a:prstGeom>
          <a:solidFill>
            <a:srgbClr val="2AD1C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Computer Society. (n.d.). The evolution of AI: From foundations to future prospects.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035808"/>
            <a:ext cx="128016" cy="128016"/>
          </a:xfrm>
          <a:prstGeom prst="ellipse">
            <a:avLst/>
          </a:prstGeom>
          <a:solidFill>
            <a:srgbClr val="2AD1C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80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Roser, M., et al. (n.d.). A brief history of artificial intelligence. Our World in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813048"/>
            <a:ext cx="128016" cy="128016"/>
          </a:xfrm>
          <a:prstGeom prst="ellipse">
            <a:avLst/>
          </a:prstGeom>
          <a:solidFill>
            <a:srgbClr val="2AD1C9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6576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University HAI. Artificial Intelligence Index Report (for recent industry milestones).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8521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assistance: AI tools were used to help gather and organize milestone information; the timeline design and layout are my own original work.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2026-07-11T02:56:30Z</dcterms:created>
  <dcterms:modified xsi:type="dcterms:W3CDTF">2026-07-11T02:56:30Z</dcterms:modified>
</cp:coreProperties>
</file>